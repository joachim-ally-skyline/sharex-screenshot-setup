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hortcuts" id="{40400045-173C-9C66-6A3E-1754F04BC54A}">
          <p14:sldIdLst>
            <p14:sldId id="256"/>
          </p14:sldIdLst>
        </p14:section>
        <p14:section name="Try it" id="{D4B5B9BC-C5EA-62DF-E0BE-78DE7A6F5112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5439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Ctrl+Shift+1: frame chooser. Ctrl+Shift+2: default grey rounded border. Ctrl+Shift+3: straight to the clipboard, ideal for pasting into AI when you want speed and no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prompt backs up existing ShareX settings first and installs ShareX only when it is missing. It changes only the three region hotkeys, the frames, sound and the exit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996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DataMiner  ·  ShareX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996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DataMiner  ·  ShareX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300" dirty="0">
                <a:solidFill>
                  <a:srgbClr val="60A5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SHAREX · MINI TRAINING</a:t>
            </a:r>
            <a:endParaRPr lang="en-US" sz="1100" dirty="0"/>
          </a:p>
        </p:txBody>
      </p:sp>
      <p:sp>
        <p:nvSpPr>
          <p:cNvPr id="3" name="Gradient"/>
          <p:cNvSpPr/>
          <p:nvPr/>
        </p:nvSpPr>
        <p:spPr>
          <a:xfrm>
            <a:off x="685800" y="740664"/>
            <a:ext cx="640080" cy="32004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1D4ED8"/>
              </a:gs>
            </a:gsLst>
            <a:lin ang="0" scaled="0"/>
          </a:gradFill>
          <a:ln/>
        </p:spPr>
      </p:sp>
      <p:sp>
        <p:nvSpPr>
          <p:cNvPr id="4" name="Title:content"/>
          <p:cNvSpPr/>
          <p:nvPr/>
        </p:nvSpPr>
        <p:spPr>
          <a:xfrm>
            <a:off x="685800" y="89611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SkylineSans Black" pitchFamily="34" charset="0"/>
                <a:ea typeface="SkylineSans Black" pitchFamily="34" charset="-122"/>
                <a:cs typeface="SkylineSans Black" pitchFamily="34" charset="-120"/>
              </a:rPr>
              <a:t>Screenshots in </a:t>
            </a:r>
            <a:r>
              <a:rPr lang="en-US" sz="3400" dirty="0">
                <a:solidFill>
                  <a:srgbClr val="60A5FA"/>
                </a:solidFill>
                <a:latin typeface="SkylineSans Black" pitchFamily="34" charset="0"/>
                <a:ea typeface="SkylineSans Black" pitchFamily="34" charset="-122"/>
                <a:cs typeface="SkylineSans Black" pitchFamily="34" charset="-120"/>
              </a:rPr>
              <a:t>three shortcuts</a:t>
            </a:r>
            <a:endParaRPr lang="en-US" sz="3400" dirty="0"/>
          </a:p>
        </p:txBody>
      </p:sp>
      <p:pic>
        <p:nvPicPr>
          <p:cNvPr id="5" name="Decor:schema-sharex-shortcuts" descr="C:\Temp\ShareX-Training\Presentations\_build\graphics\schema-sharex-shortcu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633" y="1698859"/>
            <a:ext cx="10648429" cy="3917482"/>
          </a:xfrm>
          <a:prstGeom prst="rect">
            <a:avLst/>
          </a:prstGeom>
        </p:spPr>
      </p:pic>
      <p:sp>
        <p:nvSpPr>
          <p:cNvPr id="6" name="Schema"/>
          <p:cNvSpPr/>
          <p:nvPr/>
        </p:nvSpPr>
        <p:spPr>
          <a:xfrm>
            <a:off x="1038734" y="1965960"/>
            <a:ext cx="3205213" cy="3383280"/>
          </a:xfrm>
          <a:prstGeom prst="roundRect">
            <a:avLst>
              <a:gd name="adj" fmla="val 3423"/>
            </a:avLst>
          </a:prstGeom>
          <a:gradFill rotWithShape="1">
            <a:gsLst>
              <a:gs pos="0">
                <a:srgbClr val="111827"/>
              </a:gs>
              <a:gs pos="100000">
                <a:srgbClr val="0B1120"/>
              </a:gs>
            </a:gsLst>
            <a:lin ang="5400000" scaled="0"/>
          </a:gradFill>
          <a:ln w="8903">
            <a:solidFill>
              <a:srgbClr val="1F2937"/>
            </a:solidFill>
            <a:prstDash val="solid"/>
          </a:ln>
        </p:spPr>
      </p:sp>
      <p:sp>
        <p:nvSpPr>
          <p:cNvPr id="7" name="Schema"/>
          <p:cNvSpPr/>
          <p:nvPr/>
        </p:nvSpPr>
        <p:spPr>
          <a:xfrm>
            <a:off x="1252415" y="2215254"/>
            <a:ext cx="854723" cy="641043"/>
          </a:xfrm>
          <a:prstGeom prst="roundRect">
            <a:avLst>
              <a:gd name="adj" fmla="val 17117"/>
            </a:avLst>
          </a:prstGeom>
          <a:gradFill rotWithShape="1">
            <a:gsLst>
              <a:gs pos="0">
                <a:srgbClr val="111827"/>
              </a:gs>
              <a:gs pos="100000">
                <a:srgbClr val="0B1120"/>
              </a:gs>
            </a:gsLst>
            <a:lin ang="5400000" scaled="0"/>
          </a:gradFill>
          <a:ln w="8903">
            <a:solidFill>
              <a:srgbClr val="1F2937"/>
            </a:solidFill>
            <a:prstDash val="solid"/>
          </a:ln>
        </p:spPr>
      </p:sp>
      <p:sp>
        <p:nvSpPr>
          <p:cNvPr id="8" name="Schema"/>
          <p:cNvSpPr/>
          <p:nvPr/>
        </p:nvSpPr>
        <p:spPr>
          <a:xfrm>
            <a:off x="2196172" y="2215254"/>
            <a:ext cx="997177" cy="641043"/>
          </a:xfrm>
          <a:prstGeom prst="roundRect">
            <a:avLst>
              <a:gd name="adj" fmla="val 17117"/>
            </a:avLst>
          </a:prstGeom>
          <a:gradFill rotWithShape="1">
            <a:gsLst>
              <a:gs pos="0">
                <a:srgbClr val="111827"/>
              </a:gs>
              <a:gs pos="100000">
                <a:srgbClr val="0B1120"/>
              </a:gs>
            </a:gsLst>
            <a:lin ang="5400000" scaled="0"/>
          </a:gradFill>
          <a:ln w="8903">
            <a:solidFill>
              <a:srgbClr val="1F2937"/>
            </a:solidFill>
            <a:prstDash val="solid"/>
          </a:ln>
        </p:spPr>
      </p:sp>
      <p:sp>
        <p:nvSpPr>
          <p:cNvPr id="9" name="Schema"/>
          <p:cNvSpPr/>
          <p:nvPr/>
        </p:nvSpPr>
        <p:spPr>
          <a:xfrm>
            <a:off x="3282383" y="2215254"/>
            <a:ext cx="641043" cy="641043"/>
          </a:xfrm>
          <a:prstGeom prst="roundRect">
            <a:avLst>
              <a:gd name="adj" fmla="val 17117"/>
            </a:avLst>
          </a:prstGeom>
          <a:gradFill rotWithShape="1">
            <a:gsLst>
              <a:gs pos="0">
                <a:srgbClr val="111827"/>
              </a:gs>
              <a:gs pos="100000">
                <a:srgbClr val="0B1120"/>
              </a:gs>
            </a:gsLst>
            <a:lin ang="5400000" scaled="0"/>
          </a:gradFill>
          <a:ln w="8903">
            <a:solidFill>
              <a:srgbClr val="1F2937"/>
            </a:solidFill>
            <a:prstDash val="solid"/>
          </a:ln>
        </p:spPr>
      </p:sp>
      <p:sp>
        <p:nvSpPr>
          <p:cNvPr id="10" name="Schema"/>
          <p:cNvSpPr/>
          <p:nvPr/>
        </p:nvSpPr>
        <p:spPr>
          <a:xfrm>
            <a:off x="1252415" y="4779424"/>
            <a:ext cx="558825" cy="231488"/>
          </a:xfrm>
          <a:prstGeom prst="roundRect">
            <a:avLst>
              <a:gd name="adj" fmla="val 50000"/>
            </a:avLst>
          </a:prstGeom>
          <a:solidFill>
            <a:srgbClr val="030712"/>
          </a:solidFill>
          <a:ln w="8903">
            <a:solidFill>
              <a:srgbClr val="3B82F6">
                <a:alpha val="55000"/>
              </a:srgbClr>
            </a:solidFill>
            <a:prstDash val="solid"/>
          </a:ln>
        </p:spPr>
      </p:sp>
      <p:sp>
        <p:nvSpPr>
          <p:cNvPr id="11" name="Schema"/>
          <p:cNvSpPr/>
          <p:nvPr/>
        </p:nvSpPr>
        <p:spPr>
          <a:xfrm>
            <a:off x="1873564" y="4779424"/>
            <a:ext cx="727989" cy="231488"/>
          </a:xfrm>
          <a:prstGeom prst="roundRect">
            <a:avLst>
              <a:gd name="adj" fmla="val 50000"/>
            </a:avLst>
          </a:prstGeom>
          <a:solidFill>
            <a:srgbClr val="030712"/>
          </a:solidFill>
          <a:ln w="8903">
            <a:solidFill>
              <a:srgbClr val="3B82F6">
                <a:alpha val="55000"/>
              </a:srgbClr>
            </a:solidFill>
            <a:prstDash val="solid"/>
          </a:ln>
        </p:spPr>
      </p:sp>
      <p:sp>
        <p:nvSpPr>
          <p:cNvPr id="12" name="Schema"/>
          <p:cNvSpPr/>
          <p:nvPr/>
        </p:nvSpPr>
        <p:spPr>
          <a:xfrm>
            <a:off x="4493241" y="1965960"/>
            <a:ext cx="3205213" cy="3383280"/>
          </a:xfrm>
          <a:prstGeom prst="roundRect">
            <a:avLst>
              <a:gd name="adj" fmla="val 3423"/>
            </a:avLst>
          </a:prstGeom>
          <a:gradFill rotWithShape="1">
            <a:gsLst>
              <a:gs pos="0">
                <a:srgbClr val="111827"/>
              </a:gs>
              <a:gs pos="100000">
                <a:srgbClr val="0B1120"/>
              </a:gs>
            </a:gsLst>
            <a:lin ang="5400000" scaled="0"/>
          </a:gradFill>
          <a:ln w="8903">
            <a:solidFill>
              <a:srgbClr val="1F2937"/>
            </a:solidFill>
            <a:prstDash val="solid"/>
          </a:ln>
        </p:spPr>
      </p:sp>
      <p:sp>
        <p:nvSpPr>
          <p:cNvPr id="13" name="Schema"/>
          <p:cNvSpPr/>
          <p:nvPr/>
        </p:nvSpPr>
        <p:spPr>
          <a:xfrm>
            <a:off x="4706922" y="2215254"/>
            <a:ext cx="854723" cy="641043"/>
          </a:xfrm>
          <a:prstGeom prst="roundRect">
            <a:avLst>
              <a:gd name="adj" fmla="val 17117"/>
            </a:avLst>
          </a:prstGeom>
          <a:gradFill rotWithShape="1">
            <a:gsLst>
              <a:gs pos="0">
                <a:srgbClr val="111827"/>
              </a:gs>
              <a:gs pos="100000">
                <a:srgbClr val="0B1120"/>
              </a:gs>
            </a:gsLst>
            <a:lin ang="5400000" scaled="0"/>
          </a:gradFill>
          <a:ln w="8903">
            <a:solidFill>
              <a:srgbClr val="1F2937"/>
            </a:solidFill>
            <a:prstDash val="solid"/>
          </a:ln>
        </p:spPr>
      </p:sp>
      <p:sp>
        <p:nvSpPr>
          <p:cNvPr id="14" name="Schema"/>
          <p:cNvSpPr/>
          <p:nvPr/>
        </p:nvSpPr>
        <p:spPr>
          <a:xfrm>
            <a:off x="5650679" y="2215254"/>
            <a:ext cx="997177" cy="641043"/>
          </a:xfrm>
          <a:prstGeom prst="roundRect">
            <a:avLst>
              <a:gd name="adj" fmla="val 17117"/>
            </a:avLst>
          </a:prstGeom>
          <a:gradFill rotWithShape="1">
            <a:gsLst>
              <a:gs pos="0">
                <a:srgbClr val="111827"/>
              </a:gs>
              <a:gs pos="100000">
                <a:srgbClr val="0B1120"/>
              </a:gs>
            </a:gsLst>
            <a:lin ang="5400000" scaled="0"/>
          </a:gradFill>
          <a:ln w="8903">
            <a:solidFill>
              <a:srgbClr val="1F2937"/>
            </a:solidFill>
            <a:prstDash val="solid"/>
          </a:ln>
        </p:spPr>
      </p:sp>
      <p:sp>
        <p:nvSpPr>
          <p:cNvPr id="15" name="Schema"/>
          <p:cNvSpPr/>
          <p:nvPr/>
        </p:nvSpPr>
        <p:spPr>
          <a:xfrm>
            <a:off x="6736890" y="2215254"/>
            <a:ext cx="641043" cy="641043"/>
          </a:xfrm>
          <a:prstGeom prst="roundRect">
            <a:avLst>
              <a:gd name="adj" fmla="val 17117"/>
            </a:avLst>
          </a:prstGeom>
          <a:gradFill rotWithShape="1">
            <a:gsLst>
              <a:gs pos="0">
                <a:srgbClr val="111827"/>
              </a:gs>
              <a:gs pos="100000">
                <a:srgbClr val="0B1120"/>
              </a:gs>
            </a:gsLst>
            <a:lin ang="5400000" scaled="0"/>
          </a:gradFill>
          <a:ln w="8903">
            <a:solidFill>
              <a:srgbClr val="1F2937"/>
            </a:solidFill>
            <a:prstDash val="solid"/>
          </a:ln>
        </p:spPr>
      </p:sp>
      <p:sp>
        <p:nvSpPr>
          <p:cNvPr id="16" name="Schema"/>
          <p:cNvSpPr/>
          <p:nvPr/>
        </p:nvSpPr>
        <p:spPr>
          <a:xfrm>
            <a:off x="4706922" y="4779424"/>
            <a:ext cx="887972" cy="231488"/>
          </a:xfrm>
          <a:prstGeom prst="roundRect">
            <a:avLst>
              <a:gd name="adj" fmla="val 50000"/>
            </a:avLst>
          </a:prstGeom>
          <a:solidFill>
            <a:srgbClr val="030712"/>
          </a:solidFill>
          <a:ln w="8903">
            <a:solidFill>
              <a:srgbClr val="3B82F6">
                <a:alpha val="55000"/>
              </a:srgbClr>
            </a:solidFill>
            <a:prstDash val="solid"/>
          </a:ln>
        </p:spPr>
      </p:sp>
      <p:sp>
        <p:nvSpPr>
          <p:cNvPr id="17" name="Schema"/>
          <p:cNvSpPr/>
          <p:nvPr/>
        </p:nvSpPr>
        <p:spPr>
          <a:xfrm>
            <a:off x="5657218" y="4779424"/>
            <a:ext cx="727989" cy="231488"/>
          </a:xfrm>
          <a:prstGeom prst="roundRect">
            <a:avLst>
              <a:gd name="adj" fmla="val 50000"/>
            </a:avLst>
          </a:prstGeom>
          <a:solidFill>
            <a:srgbClr val="030712"/>
          </a:solidFill>
          <a:ln w="8903">
            <a:solidFill>
              <a:srgbClr val="3B82F6">
                <a:alpha val="55000"/>
              </a:srgbClr>
            </a:solidFill>
            <a:prstDash val="solid"/>
          </a:ln>
        </p:spPr>
      </p:sp>
      <p:sp>
        <p:nvSpPr>
          <p:cNvPr id="18" name="Schema"/>
          <p:cNvSpPr/>
          <p:nvPr/>
        </p:nvSpPr>
        <p:spPr>
          <a:xfrm>
            <a:off x="7947748" y="1965960"/>
            <a:ext cx="3205213" cy="3383280"/>
          </a:xfrm>
          <a:prstGeom prst="roundRect">
            <a:avLst>
              <a:gd name="adj" fmla="val 3423"/>
            </a:avLst>
          </a:prstGeom>
          <a:gradFill rotWithShape="1">
            <a:gsLst>
              <a:gs pos="0">
                <a:srgbClr val="172554"/>
              </a:gs>
              <a:gs pos="100000">
                <a:srgbClr val="0B1120"/>
              </a:gs>
            </a:gsLst>
            <a:lin ang="5400000" scaled="0"/>
          </a:gradFill>
          <a:ln w="8903">
            <a:solidFill>
              <a:srgbClr val="2563EB"/>
            </a:solidFill>
            <a:prstDash val="solid"/>
          </a:ln>
          <a:effectLst>
            <a:outerShdw blurRad="267101" dist="127" dir="5400000" algn="bl" rotWithShape="0">
              <a:srgbClr val="2563EB">
                <a:alpha val="45000"/>
              </a:srgbClr>
            </a:outerShdw>
          </a:effectLst>
        </p:spPr>
      </p:sp>
      <p:sp>
        <p:nvSpPr>
          <p:cNvPr id="19" name="Schema"/>
          <p:cNvSpPr/>
          <p:nvPr/>
        </p:nvSpPr>
        <p:spPr>
          <a:xfrm>
            <a:off x="8161429" y="2215254"/>
            <a:ext cx="854723" cy="641043"/>
          </a:xfrm>
          <a:prstGeom prst="roundRect">
            <a:avLst>
              <a:gd name="adj" fmla="val 17117"/>
            </a:avLst>
          </a:prstGeom>
          <a:gradFill rotWithShape="1">
            <a:gsLst>
              <a:gs pos="0">
                <a:srgbClr val="111827"/>
              </a:gs>
              <a:gs pos="100000">
                <a:srgbClr val="0B1120"/>
              </a:gs>
            </a:gsLst>
            <a:lin ang="5400000" scaled="0"/>
          </a:gradFill>
          <a:ln w="8903">
            <a:solidFill>
              <a:srgbClr val="1F2937"/>
            </a:solidFill>
            <a:prstDash val="solid"/>
          </a:ln>
        </p:spPr>
      </p:sp>
      <p:sp>
        <p:nvSpPr>
          <p:cNvPr id="20" name="Schema"/>
          <p:cNvSpPr/>
          <p:nvPr/>
        </p:nvSpPr>
        <p:spPr>
          <a:xfrm>
            <a:off x="9105186" y="2215254"/>
            <a:ext cx="997177" cy="641043"/>
          </a:xfrm>
          <a:prstGeom prst="roundRect">
            <a:avLst>
              <a:gd name="adj" fmla="val 17117"/>
            </a:avLst>
          </a:prstGeom>
          <a:gradFill rotWithShape="1">
            <a:gsLst>
              <a:gs pos="0">
                <a:srgbClr val="111827"/>
              </a:gs>
              <a:gs pos="100000">
                <a:srgbClr val="0B1120"/>
              </a:gs>
            </a:gsLst>
            <a:lin ang="5400000" scaled="0"/>
          </a:gradFill>
          <a:ln w="8903">
            <a:solidFill>
              <a:srgbClr val="1F2937"/>
            </a:solidFill>
            <a:prstDash val="solid"/>
          </a:ln>
        </p:spPr>
      </p:sp>
      <p:sp>
        <p:nvSpPr>
          <p:cNvPr id="21" name="Schema"/>
          <p:cNvSpPr/>
          <p:nvPr/>
        </p:nvSpPr>
        <p:spPr>
          <a:xfrm>
            <a:off x="10191397" y="2215254"/>
            <a:ext cx="641043" cy="641043"/>
          </a:xfrm>
          <a:prstGeom prst="roundRect">
            <a:avLst>
              <a:gd name="adj" fmla="val 17117"/>
            </a:avLst>
          </a:prstGeom>
          <a:gradFill rotWithShape="1">
            <a:gsLst>
              <a:gs pos="0">
                <a:srgbClr val="111827"/>
              </a:gs>
              <a:gs pos="100000">
                <a:srgbClr val="0B1120"/>
              </a:gs>
            </a:gsLst>
            <a:lin ang="5400000" scaled="0"/>
          </a:gradFill>
          <a:ln w="8903">
            <a:solidFill>
              <a:srgbClr val="1F2937"/>
            </a:solidFill>
            <a:prstDash val="solid"/>
          </a:ln>
        </p:spPr>
      </p:sp>
      <p:sp>
        <p:nvSpPr>
          <p:cNvPr id="22" name="Schema"/>
          <p:cNvSpPr/>
          <p:nvPr/>
        </p:nvSpPr>
        <p:spPr>
          <a:xfrm>
            <a:off x="8161429" y="4779424"/>
            <a:ext cx="887972" cy="231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72554"/>
              </a:gs>
              <a:gs pos="100000">
                <a:srgbClr val="0B1120"/>
              </a:gs>
            </a:gsLst>
            <a:lin ang="5400000" scaled="0"/>
          </a:gradFill>
          <a:ln w="8903">
            <a:solidFill>
              <a:srgbClr val="2563EB"/>
            </a:solidFill>
            <a:prstDash val="solid"/>
          </a:ln>
          <a:effectLst>
            <a:outerShdw blurRad="106840" dist="127" dir="5400000" algn="bl" rotWithShape="0">
              <a:srgbClr val="2563EB">
                <a:alpha val="50000"/>
              </a:srgbClr>
            </a:outerShdw>
          </a:effectLst>
        </p:spPr>
      </p:sp>
      <p:sp>
        <p:nvSpPr>
          <p:cNvPr id="23" name="Schema"/>
          <p:cNvSpPr/>
          <p:nvPr/>
        </p:nvSpPr>
        <p:spPr>
          <a:xfrm>
            <a:off x="9111725" y="4779424"/>
            <a:ext cx="760960" cy="231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72554"/>
              </a:gs>
              <a:gs pos="100000">
                <a:srgbClr val="0B1120"/>
              </a:gs>
            </a:gsLst>
            <a:lin ang="5400000" scaled="0"/>
          </a:gradFill>
          <a:ln w="8903">
            <a:solidFill>
              <a:srgbClr val="2563EB"/>
            </a:solidFill>
            <a:prstDash val="solid"/>
          </a:ln>
          <a:effectLst>
            <a:outerShdw blurRad="106840" dist="127" dir="5400000" algn="bl" rotWithShape="0">
              <a:srgbClr val="2563EB">
                <a:alpha val="50000"/>
              </a:srgbClr>
            </a:outerShdw>
          </a:effectLst>
        </p:spPr>
      </p:sp>
      <p:sp>
        <p:nvSpPr>
          <p:cNvPr id="24" name="Text:schema"/>
          <p:cNvSpPr/>
          <p:nvPr/>
        </p:nvSpPr>
        <p:spPr>
          <a:xfrm>
            <a:off x="1487381" y="2406677"/>
            <a:ext cx="384653" cy="276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19"/>
              </a:lnSpc>
              <a:buNone/>
            </a:pPr>
            <a:r>
              <a:rPr lang="en-US" sz="168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Ctrl</a:t>
            </a:r>
            <a:endParaRPr lang="en-US" sz="1683" dirty="0"/>
          </a:p>
        </p:txBody>
      </p:sp>
      <p:sp>
        <p:nvSpPr>
          <p:cNvPr id="25" name="Text:schema"/>
          <p:cNvSpPr/>
          <p:nvPr/>
        </p:nvSpPr>
        <p:spPr>
          <a:xfrm>
            <a:off x="2451866" y="2406677"/>
            <a:ext cx="485790" cy="276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19"/>
              </a:lnSpc>
              <a:buNone/>
            </a:pPr>
            <a:r>
              <a:rPr lang="en-US" sz="168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Shift</a:t>
            </a:r>
            <a:endParaRPr lang="en-US" sz="1683" dirty="0"/>
          </a:p>
        </p:txBody>
      </p:sp>
      <p:sp>
        <p:nvSpPr>
          <p:cNvPr id="26" name="Text:schema"/>
          <p:cNvSpPr/>
          <p:nvPr/>
        </p:nvSpPr>
        <p:spPr>
          <a:xfrm>
            <a:off x="3556718" y="2406677"/>
            <a:ext cx="92233" cy="276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19"/>
              </a:lnSpc>
              <a:buNone/>
            </a:pPr>
            <a:r>
              <a:rPr lang="en-US" sz="168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83" dirty="0"/>
          </a:p>
        </p:txBody>
      </p:sp>
      <p:sp>
        <p:nvSpPr>
          <p:cNvPr id="27" name="Text:schema"/>
          <p:cNvSpPr/>
          <p:nvPr/>
        </p:nvSpPr>
        <p:spPr>
          <a:xfrm>
            <a:off x="1252415" y="3105591"/>
            <a:ext cx="1326741" cy="160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4"/>
              </a:lnSpc>
              <a:buNone/>
            </a:pPr>
            <a:r>
              <a:rPr lang="en-US" sz="911" b="1" kern="0" spc="128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IT MATTERS</a:t>
            </a:r>
            <a:endParaRPr lang="en-US" sz="911" dirty="0"/>
          </a:p>
        </p:txBody>
      </p:sp>
      <p:sp>
        <p:nvSpPr>
          <p:cNvPr id="28" name="Text:schema"/>
          <p:cNvSpPr/>
          <p:nvPr/>
        </p:nvSpPr>
        <p:spPr>
          <a:xfrm>
            <a:off x="1252415" y="3354885"/>
            <a:ext cx="1394073" cy="293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87"/>
              </a:lnSpc>
              <a:buNone/>
            </a:pPr>
            <a:r>
              <a:rPr lang="en-US" sz="182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a frame</a:t>
            </a:r>
            <a:endParaRPr lang="en-US" sz="1823" dirty="0"/>
          </a:p>
        </p:txBody>
      </p:sp>
      <p:sp>
        <p:nvSpPr>
          <p:cNvPr id="29" name="Text:schema"/>
          <p:cNvSpPr/>
          <p:nvPr/>
        </p:nvSpPr>
        <p:spPr>
          <a:xfrm>
            <a:off x="1252415" y="3817861"/>
            <a:ext cx="2971232" cy="441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69"/>
              </a:lnSpc>
              <a:buNone/>
            </a:pPr>
            <a:r>
              <a:rPr lang="en-US" sz="1192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Drag an area, choose one of 10 frames, annotate, hit Enter.</a:t>
            </a:r>
            <a:endParaRPr lang="en-US" sz="1192" dirty="0"/>
          </a:p>
        </p:txBody>
      </p:sp>
      <p:sp>
        <p:nvSpPr>
          <p:cNvPr id="30" name="Text:schema"/>
          <p:cNvSpPr/>
          <p:nvPr/>
        </p:nvSpPr>
        <p:spPr>
          <a:xfrm>
            <a:off x="1350352" y="4823941"/>
            <a:ext cx="362951" cy="160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6"/>
              </a:lnSpc>
              <a:buNone/>
            </a:pPr>
            <a:r>
              <a:rPr lang="en-US" sz="946" b="1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</a:t>
            </a:r>
            <a:endParaRPr lang="en-US" sz="946" dirty="0"/>
          </a:p>
        </p:txBody>
      </p:sp>
      <p:sp>
        <p:nvSpPr>
          <p:cNvPr id="31" name="Text:schema"/>
          <p:cNvSpPr/>
          <p:nvPr/>
        </p:nvSpPr>
        <p:spPr>
          <a:xfrm>
            <a:off x="1971501" y="4823941"/>
            <a:ext cx="532115" cy="160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6"/>
              </a:lnSpc>
              <a:buNone/>
            </a:pPr>
            <a:r>
              <a:rPr lang="en-US" sz="946" b="1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Annotate</a:t>
            </a:r>
            <a:endParaRPr lang="en-US" sz="946" dirty="0"/>
          </a:p>
        </p:txBody>
      </p:sp>
      <p:sp>
        <p:nvSpPr>
          <p:cNvPr id="32" name="Text:schema"/>
          <p:cNvSpPr/>
          <p:nvPr/>
        </p:nvSpPr>
        <p:spPr>
          <a:xfrm>
            <a:off x="4941888" y="2406677"/>
            <a:ext cx="384653" cy="276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19"/>
              </a:lnSpc>
              <a:buNone/>
            </a:pPr>
            <a:r>
              <a:rPr lang="en-US" sz="168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Ctrl</a:t>
            </a:r>
            <a:endParaRPr lang="en-US" sz="1683" dirty="0"/>
          </a:p>
        </p:txBody>
      </p:sp>
      <p:sp>
        <p:nvSpPr>
          <p:cNvPr id="33" name="Text:schema"/>
          <p:cNvSpPr/>
          <p:nvPr/>
        </p:nvSpPr>
        <p:spPr>
          <a:xfrm>
            <a:off x="5906373" y="2406677"/>
            <a:ext cx="485790" cy="276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19"/>
              </a:lnSpc>
              <a:buNone/>
            </a:pPr>
            <a:r>
              <a:rPr lang="en-US" sz="168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Shift</a:t>
            </a:r>
            <a:endParaRPr lang="en-US" sz="1683" dirty="0"/>
          </a:p>
        </p:txBody>
      </p:sp>
      <p:sp>
        <p:nvSpPr>
          <p:cNvPr id="34" name="Text:schema"/>
          <p:cNvSpPr/>
          <p:nvPr/>
        </p:nvSpPr>
        <p:spPr>
          <a:xfrm>
            <a:off x="6990080" y="2406677"/>
            <a:ext cx="134663" cy="276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19"/>
              </a:lnSpc>
              <a:buNone/>
            </a:pPr>
            <a:r>
              <a:rPr lang="en-US" sz="168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83" dirty="0"/>
          </a:p>
        </p:txBody>
      </p:sp>
      <p:sp>
        <p:nvSpPr>
          <p:cNvPr id="35" name="Text:schema"/>
          <p:cNvSpPr/>
          <p:nvPr/>
        </p:nvSpPr>
        <p:spPr>
          <a:xfrm>
            <a:off x="4706922" y="3105591"/>
            <a:ext cx="740927" cy="160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4"/>
              </a:lnSpc>
              <a:buNone/>
            </a:pPr>
            <a:r>
              <a:rPr lang="en-US" sz="911" b="1" kern="0" spc="128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USE</a:t>
            </a:r>
            <a:endParaRPr lang="en-US" sz="911" dirty="0"/>
          </a:p>
        </p:txBody>
      </p:sp>
      <p:sp>
        <p:nvSpPr>
          <p:cNvPr id="36" name="Text:schema"/>
          <p:cNvSpPr/>
          <p:nvPr/>
        </p:nvSpPr>
        <p:spPr>
          <a:xfrm>
            <a:off x="4706922" y="3354885"/>
            <a:ext cx="1344826" cy="293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87"/>
              </a:lnSpc>
              <a:buNone/>
            </a:pPr>
            <a:r>
              <a:rPr lang="en-US" sz="182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Grey border</a:t>
            </a:r>
            <a:endParaRPr lang="en-US" sz="1823" dirty="0"/>
          </a:p>
        </p:txBody>
      </p:sp>
      <p:sp>
        <p:nvSpPr>
          <p:cNvPr id="37" name="Text:schema"/>
          <p:cNvSpPr/>
          <p:nvPr/>
        </p:nvSpPr>
        <p:spPr>
          <a:xfrm>
            <a:off x="4706922" y="3817861"/>
            <a:ext cx="2971232" cy="441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69"/>
              </a:lnSpc>
              <a:buNone/>
            </a:pPr>
            <a:r>
              <a:rPr lang="en-US" sz="1192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Drag an area and you get the rounded grey border. Add an arrow, hit Enter.</a:t>
            </a:r>
            <a:endParaRPr lang="en-US" sz="1192" dirty="0"/>
          </a:p>
        </p:txBody>
      </p:sp>
      <p:sp>
        <p:nvSpPr>
          <p:cNvPr id="38" name="Text:schema"/>
          <p:cNvSpPr/>
          <p:nvPr/>
        </p:nvSpPr>
        <p:spPr>
          <a:xfrm>
            <a:off x="4804859" y="4823941"/>
            <a:ext cx="692098" cy="160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6"/>
              </a:lnSpc>
              <a:buNone/>
            </a:pPr>
            <a:r>
              <a:rPr lang="en-US" sz="946" b="1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Grey border</a:t>
            </a:r>
            <a:endParaRPr lang="en-US" sz="946" dirty="0"/>
          </a:p>
        </p:txBody>
      </p:sp>
      <p:sp>
        <p:nvSpPr>
          <p:cNvPr id="39" name="Text:schema"/>
          <p:cNvSpPr/>
          <p:nvPr/>
        </p:nvSpPr>
        <p:spPr>
          <a:xfrm>
            <a:off x="5755155" y="4823941"/>
            <a:ext cx="532115" cy="160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6"/>
              </a:lnSpc>
              <a:buNone/>
            </a:pPr>
            <a:r>
              <a:rPr lang="en-US" sz="946" b="1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Annotate</a:t>
            </a:r>
            <a:endParaRPr lang="en-US" sz="946" dirty="0"/>
          </a:p>
        </p:txBody>
      </p:sp>
      <p:sp>
        <p:nvSpPr>
          <p:cNvPr id="40" name="Text:schema"/>
          <p:cNvSpPr/>
          <p:nvPr/>
        </p:nvSpPr>
        <p:spPr>
          <a:xfrm>
            <a:off x="8396395" y="2406677"/>
            <a:ext cx="384653" cy="276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19"/>
              </a:lnSpc>
              <a:buNone/>
            </a:pPr>
            <a:r>
              <a:rPr lang="en-US" sz="168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Ctrl</a:t>
            </a:r>
            <a:endParaRPr lang="en-US" sz="1683" dirty="0"/>
          </a:p>
        </p:txBody>
      </p:sp>
      <p:sp>
        <p:nvSpPr>
          <p:cNvPr id="41" name="Text:schema"/>
          <p:cNvSpPr/>
          <p:nvPr/>
        </p:nvSpPr>
        <p:spPr>
          <a:xfrm>
            <a:off x="9360880" y="2406677"/>
            <a:ext cx="485790" cy="276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19"/>
              </a:lnSpc>
              <a:buNone/>
            </a:pPr>
            <a:r>
              <a:rPr lang="en-US" sz="168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Shift</a:t>
            </a:r>
            <a:endParaRPr lang="en-US" sz="1683" dirty="0"/>
          </a:p>
        </p:txBody>
      </p:sp>
      <p:sp>
        <p:nvSpPr>
          <p:cNvPr id="42" name="Text:schema"/>
          <p:cNvSpPr/>
          <p:nvPr/>
        </p:nvSpPr>
        <p:spPr>
          <a:xfrm>
            <a:off x="10442917" y="2406677"/>
            <a:ext cx="138002" cy="276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19"/>
              </a:lnSpc>
              <a:buNone/>
            </a:pPr>
            <a:r>
              <a:rPr lang="en-US" sz="168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83" dirty="0"/>
          </a:p>
        </p:txBody>
      </p:sp>
      <p:sp>
        <p:nvSpPr>
          <p:cNvPr id="43" name="Text:schema"/>
          <p:cNvSpPr/>
          <p:nvPr/>
        </p:nvSpPr>
        <p:spPr>
          <a:xfrm>
            <a:off x="8161429" y="3105591"/>
            <a:ext cx="626018" cy="160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4"/>
              </a:lnSpc>
              <a:buNone/>
            </a:pPr>
            <a:r>
              <a:rPr lang="en-US" sz="911" b="1" kern="0" spc="128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FASTEST</a:t>
            </a:r>
            <a:endParaRPr lang="en-US" sz="911" dirty="0"/>
          </a:p>
        </p:txBody>
      </p:sp>
      <p:sp>
        <p:nvSpPr>
          <p:cNvPr id="44" name="Text:schema"/>
          <p:cNvSpPr/>
          <p:nvPr/>
        </p:nvSpPr>
        <p:spPr>
          <a:xfrm>
            <a:off x="8161429" y="3354885"/>
            <a:ext cx="2300547" cy="293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87"/>
              </a:lnSpc>
              <a:buNone/>
            </a:pPr>
            <a:r>
              <a:rPr lang="en-US" sz="182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Straight to clipboard</a:t>
            </a:r>
            <a:endParaRPr lang="en-US" sz="1823" dirty="0"/>
          </a:p>
        </p:txBody>
      </p:sp>
      <p:sp>
        <p:nvSpPr>
          <p:cNvPr id="45" name="Text:schema"/>
          <p:cNvSpPr/>
          <p:nvPr/>
        </p:nvSpPr>
        <p:spPr>
          <a:xfrm>
            <a:off x="8161429" y="3817861"/>
            <a:ext cx="2971232" cy="441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69"/>
              </a:lnSpc>
              <a:buNone/>
            </a:pPr>
            <a:r>
              <a:rPr lang="en-US" sz="1192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editor. Paste it into an AI chat, Teams or a mail right away.</a:t>
            </a:r>
            <a:endParaRPr lang="en-US" sz="1192" dirty="0"/>
          </a:p>
        </p:txBody>
      </p:sp>
      <p:sp>
        <p:nvSpPr>
          <p:cNvPr id="46" name="Text:schema"/>
          <p:cNvSpPr/>
          <p:nvPr/>
        </p:nvSpPr>
        <p:spPr>
          <a:xfrm>
            <a:off x="8259366" y="4823941"/>
            <a:ext cx="692098" cy="160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6"/>
              </a:lnSpc>
              <a:buNone/>
            </a:pPr>
            <a:r>
              <a:rPr lang="en-US" sz="94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Grey border</a:t>
            </a:r>
            <a:endParaRPr lang="en-US" sz="946" dirty="0"/>
          </a:p>
        </p:txBody>
      </p:sp>
      <p:sp>
        <p:nvSpPr>
          <p:cNvPr id="47" name="Text:schema"/>
          <p:cNvSpPr/>
          <p:nvPr/>
        </p:nvSpPr>
        <p:spPr>
          <a:xfrm>
            <a:off x="9209662" y="4823941"/>
            <a:ext cx="565086" cy="160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6"/>
              </a:lnSpc>
              <a:buNone/>
            </a:pPr>
            <a:r>
              <a:rPr lang="en-US" sz="94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Clipboard</a:t>
            </a:r>
            <a:endParaRPr lang="en-US" sz="946" dirty="0"/>
          </a:p>
        </p:txBody>
      </p:sp>
      <p:sp>
        <p:nvSpPr>
          <p:cNvPr id="48" name="Gradient"/>
          <p:cNvSpPr/>
          <p:nvPr/>
        </p:nvSpPr>
        <p:spPr>
          <a:xfrm>
            <a:off x="685800" y="5577840"/>
            <a:ext cx="10820095" cy="54864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11827"/>
              </a:gs>
              <a:gs pos="100000">
                <a:srgbClr val="0B1120"/>
              </a:gs>
            </a:gsLst>
            <a:lin ang="0" scaled="0"/>
          </a:gradFill>
          <a:ln w="9525">
            <a:solidFill>
              <a:srgbClr val="1F2937"/>
            </a:solidFill>
            <a:prstDash val="solid"/>
          </a:ln>
        </p:spPr>
      </p:sp>
      <p:sp>
        <p:nvSpPr>
          <p:cNvPr id="49" name="Gradient"/>
          <p:cNvSpPr/>
          <p:nvPr/>
        </p:nvSpPr>
        <p:spPr>
          <a:xfrm>
            <a:off x="813816" y="5715000"/>
            <a:ext cx="54864" cy="274320"/>
          </a:xfrm>
          <a:prstGeom prst="rect">
            <a:avLst/>
          </a:prstGeom>
          <a:gradFill rotWithShape="1">
            <a:gsLst>
              <a:gs pos="0">
                <a:srgbClr val="60A5FA"/>
              </a:gs>
              <a:gs pos="100000">
                <a:srgbClr val="1D4ED8"/>
              </a:gs>
            </a:gsLst>
            <a:lin ang="5400000" scaled="0"/>
          </a:gradFill>
          <a:ln/>
        </p:spPr>
      </p:sp>
      <p:sp>
        <p:nvSpPr>
          <p:cNvPr id="50" name="Text 47"/>
          <p:cNvSpPr/>
          <p:nvPr/>
        </p:nvSpPr>
        <p:spPr>
          <a:xfrm>
            <a:off x="960120" y="55778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 </a:t>
            </a:r>
            <a:r>
              <a:rPr lang="en-US" sz="14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copies and saves</a:t>
            </a: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Esc throws it away. Every shot also lands in a folder per month.</a:t>
            </a:r>
            <a:endParaRPr lang="en-US" sz="140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300" dirty="0">
                <a:solidFill>
                  <a:srgbClr val="60A5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SHAREX · MINI TRAINING</a:t>
            </a:r>
            <a:endParaRPr lang="en-US" sz="1100" dirty="0"/>
          </a:p>
        </p:txBody>
      </p:sp>
      <p:sp>
        <p:nvSpPr>
          <p:cNvPr id="3" name="Gradient"/>
          <p:cNvSpPr/>
          <p:nvPr/>
        </p:nvSpPr>
        <p:spPr>
          <a:xfrm>
            <a:off x="685800" y="740664"/>
            <a:ext cx="640080" cy="32004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1D4ED8"/>
              </a:gs>
            </a:gsLst>
            <a:lin ang="0" scaled="0"/>
          </a:gradFill>
          <a:ln/>
        </p:spPr>
      </p:sp>
      <p:sp>
        <p:nvSpPr>
          <p:cNvPr id="4" name="Title:content"/>
          <p:cNvSpPr/>
          <p:nvPr/>
        </p:nvSpPr>
        <p:spPr>
          <a:xfrm>
            <a:off x="685800" y="89611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SkylineSans Black" pitchFamily="34" charset="0"/>
                <a:ea typeface="SkylineSans Black" pitchFamily="34" charset="-122"/>
                <a:cs typeface="SkylineSans Black" pitchFamily="34" charset="-120"/>
              </a:rPr>
              <a:t>Why ShareX, and how to </a:t>
            </a:r>
            <a:r>
              <a:rPr lang="en-US" sz="3400" dirty="0">
                <a:solidFill>
                  <a:srgbClr val="60A5FA"/>
                </a:solidFill>
                <a:latin typeface="SkylineSans Black" pitchFamily="34" charset="0"/>
                <a:ea typeface="SkylineSans Black" pitchFamily="34" charset="-122"/>
                <a:cs typeface="SkylineSans Black" pitchFamily="34" charset="-120"/>
              </a:rPr>
              <a:t>try it</a:t>
            </a:r>
            <a:endParaRPr lang="en-US" sz="3400" dirty="0"/>
          </a:p>
        </p:txBody>
      </p:sp>
      <p:pic>
        <p:nvPicPr>
          <p:cNvPr id="5" name="Decor:schema-sharex-why" descr="C:\Temp\ShareX-Training\Presentations\_build\graphics\schema-sharex-wh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633" y="1698859"/>
            <a:ext cx="10648429" cy="3917482"/>
          </a:xfrm>
          <a:prstGeom prst="rect">
            <a:avLst/>
          </a:prstGeom>
        </p:spPr>
      </p:pic>
      <p:sp>
        <p:nvSpPr>
          <p:cNvPr id="6" name="Schema"/>
          <p:cNvSpPr/>
          <p:nvPr/>
        </p:nvSpPr>
        <p:spPr>
          <a:xfrm>
            <a:off x="1038734" y="1965960"/>
            <a:ext cx="4879046" cy="338328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111827"/>
              </a:gs>
              <a:gs pos="100000">
                <a:srgbClr val="0B1120"/>
              </a:gs>
            </a:gsLst>
            <a:lin ang="5400000" scaled="0"/>
          </a:gradFill>
          <a:ln w="8903">
            <a:solidFill>
              <a:srgbClr val="1F2937"/>
            </a:solidFill>
            <a:prstDash val="solid"/>
          </a:ln>
        </p:spPr>
      </p:sp>
      <p:sp>
        <p:nvSpPr>
          <p:cNvPr id="7" name="Schema"/>
          <p:cNvSpPr/>
          <p:nvPr/>
        </p:nvSpPr>
        <p:spPr>
          <a:xfrm>
            <a:off x="6273915" y="1965960"/>
            <a:ext cx="4879046" cy="338328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172554"/>
              </a:gs>
              <a:gs pos="100000">
                <a:srgbClr val="0B1120"/>
              </a:gs>
            </a:gsLst>
            <a:lin ang="5400000" scaled="0"/>
          </a:gradFill>
          <a:ln w="8903">
            <a:solidFill>
              <a:srgbClr val="2563EB"/>
            </a:solidFill>
            <a:prstDash val="solid"/>
          </a:ln>
          <a:effectLst>
            <a:outerShdw blurRad="267101" dist="127" dir="5400000" algn="bl" rotWithShape="0">
              <a:srgbClr val="2563EB">
                <a:alpha val="45000"/>
              </a:srgbClr>
            </a:outerShdw>
          </a:effectLst>
        </p:spPr>
      </p:sp>
      <p:sp>
        <p:nvSpPr>
          <p:cNvPr id="8" name="Schema"/>
          <p:cNvSpPr/>
          <p:nvPr/>
        </p:nvSpPr>
        <p:spPr>
          <a:xfrm>
            <a:off x="6523209" y="2517969"/>
            <a:ext cx="409555" cy="40955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Schema"/>
          <p:cNvSpPr/>
          <p:nvPr/>
        </p:nvSpPr>
        <p:spPr>
          <a:xfrm>
            <a:off x="6523209" y="3443919"/>
            <a:ext cx="409555" cy="40955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Schema"/>
          <p:cNvSpPr/>
          <p:nvPr/>
        </p:nvSpPr>
        <p:spPr>
          <a:xfrm>
            <a:off x="6523209" y="4369869"/>
            <a:ext cx="409555" cy="40955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Chip:mail"/>
          <p:cNvSpPr/>
          <p:nvPr/>
        </p:nvSpPr>
        <p:spPr>
          <a:xfrm>
            <a:off x="1288029" y="2607003"/>
            <a:ext cx="409555" cy="409555"/>
          </a:xfrm>
          <a:prstGeom prst="ellipse">
            <a:avLst/>
          </a:prstGeom>
          <a:gradFill rotWithShape="1">
            <a:gsLst>
              <a:gs pos="0">
                <a:srgbClr val="3B82F6"/>
              </a:gs>
              <a:gs pos="100000">
                <a:srgbClr val="1D4ED8"/>
              </a:gs>
            </a:gsLst>
            <a:path path="circle">
              <a:fillToRect l="50000" t="50000" r="50000" b="50000"/>
            </a:path>
          </a:gradFill>
          <a:ln/>
          <a:effectLst>
            <a:outerShdw blurRad="102389" dist="127" dir="5400000" algn="bl" rotWithShape="0">
              <a:srgbClr val="2563EB">
                <a:alpha val="55000"/>
              </a:srgbClr>
            </a:outerShdw>
          </a:effectLst>
        </p:spPr>
      </p:sp>
      <p:sp>
        <p:nvSpPr>
          <p:cNvPr id="12" name="Icon:mail"/>
          <p:cNvSpPr/>
          <p:nvPr/>
        </p:nvSpPr>
        <p:spPr>
          <a:xfrm>
            <a:off x="1397243" y="2735330"/>
            <a:ext cx="191126" cy="152901"/>
          </a:xfrm>
          <a:custGeom>
            <a:avLst/>
            <a:gdLst/>
            <a:ahLst/>
            <a:cxnLst/>
            <a:rect l="l" t="t" r="r" b="b"/>
            <a:pathLst>
              <a:path w="191126" h="152901">
                <a:moveTo>
                  <a:pt x="191126" y="28669"/>
                </a:moveTo>
                <a:lnTo>
                  <a:pt x="105205" y="83398"/>
                </a:lnTo>
                <a:cubicBezTo>
                  <a:pt x="99270" y="86845"/>
                  <a:pt x="91942" y="86845"/>
                  <a:pt x="86007" y="83398"/>
                </a:cubicBezTo>
                <a:lnTo>
                  <a:pt x="0" y="28669"/>
                </a:lnTo>
                <a:moveTo>
                  <a:pt x="19113" y="0"/>
                </a:moveTo>
                <a:lnTo>
                  <a:pt x="172013" y="0"/>
                </a:lnTo>
                <a:cubicBezTo>
                  <a:pt x="182569" y="0"/>
                  <a:pt x="191126" y="8557"/>
                  <a:pt x="191126" y="19113"/>
                </a:cubicBezTo>
                <a:lnTo>
                  <a:pt x="191126" y="133788"/>
                </a:lnTo>
                <a:cubicBezTo>
                  <a:pt x="191126" y="144344"/>
                  <a:pt x="182569" y="152901"/>
                  <a:pt x="172013" y="152901"/>
                </a:cubicBezTo>
                <a:lnTo>
                  <a:pt x="19113" y="152901"/>
                </a:lnTo>
                <a:cubicBezTo>
                  <a:pt x="8557" y="152901"/>
                  <a:pt x="0" y="144344"/>
                  <a:pt x="0" y="133788"/>
                </a:cubicBezTo>
                <a:lnTo>
                  <a:pt x="0" y="19113"/>
                </a:lnTo>
                <a:cubicBezTo>
                  <a:pt x="0" y="8557"/>
                  <a:pt x="8557" y="0"/>
                  <a:pt x="19113" y="0"/>
                </a:cubicBezTo>
                <a:close/>
              </a:path>
            </a:pathLst>
          </a:custGeom>
          <a:noFill/>
          <a:ln w="19113" cap="rnd">
            <a:solidFill>
              <a:srgbClr val="FFFFFF"/>
            </a:solidFill>
            <a:prstDash val="solid"/>
            <a:round/>
          </a:ln>
        </p:spPr>
      </p:sp>
      <p:sp>
        <p:nvSpPr>
          <p:cNvPr id="13" name="Chip:pencil"/>
          <p:cNvSpPr/>
          <p:nvPr/>
        </p:nvSpPr>
        <p:spPr>
          <a:xfrm>
            <a:off x="1288029" y="3301465"/>
            <a:ext cx="409555" cy="409555"/>
          </a:xfrm>
          <a:prstGeom prst="ellipse">
            <a:avLst/>
          </a:prstGeom>
          <a:gradFill rotWithShape="1">
            <a:gsLst>
              <a:gs pos="0">
                <a:srgbClr val="3B82F6"/>
              </a:gs>
              <a:gs pos="100000">
                <a:srgbClr val="1D4ED8"/>
              </a:gs>
            </a:gsLst>
            <a:path path="circle">
              <a:fillToRect l="50000" t="50000" r="50000" b="50000"/>
            </a:path>
          </a:gradFill>
          <a:ln/>
          <a:effectLst>
            <a:outerShdw blurRad="102389" dist="127" dir="5400000" algn="bl" rotWithShape="0">
              <a:srgbClr val="2563EB">
                <a:alpha val="55000"/>
              </a:srgbClr>
            </a:outerShdw>
          </a:effectLst>
        </p:spPr>
      </p:sp>
      <p:sp>
        <p:nvSpPr>
          <p:cNvPr id="14" name="Icon:pencil"/>
          <p:cNvSpPr/>
          <p:nvPr/>
        </p:nvSpPr>
        <p:spPr>
          <a:xfrm>
            <a:off x="1396941" y="3408045"/>
            <a:ext cx="194058" cy="194056"/>
          </a:xfrm>
          <a:custGeom>
            <a:avLst/>
            <a:gdLst/>
            <a:ahLst/>
            <a:cxnLst/>
            <a:rect l="l" t="t" r="r" b="b"/>
            <a:pathLst>
              <a:path w="194058" h="194056">
                <a:moveTo>
                  <a:pt x="183535" y="48620"/>
                </a:moveTo>
                <a:cubicBezTo>
                  <a:pt x="194056" y="38101"/>
                  <a:pt x="194058" y="21045"/>
                  <a:pt x="183539" y="10523"/>
                </a:cubicBezTo>
                <a:cubicBezTo>
                  <a:pt x="173021" y="2"/>
                  <a:pt x="155965" y="0"/>
                  <a:pt x="145443" y="10519"/>
                </a:cubicBezTo>
                <a:lnTo>
                  <a:pt x="17905" y="138085"/>
                </a:lnTo>
                <a:cubicBezTo>
                  <a:pt x="15686" y="140298"/>
                  <a:pt x="14046" y="143022"/>
                  <a:pt x="13127" y="146017"/>
                </a:cubicBezTo>
                <a:lnTo>
                  <a:pt x="503" y="187606"/>
                </a:lnTo>
                <a:cubicBezTo>
                  <a:pt x="0" y="189290"/>
                  <a:pt x="462" y="191114"/>
                  <a:pt x="1705" y="192356"/>
                </a:cubicBezTo>
                <a:cubicBezTo>
                  <a:pt x="2949" y="193597"/>
                  <a:pt x="4774" y="194056"/>
                  <a:pt x="6457" y="193550"/>
                </a:cubicBezTo>
                <a:lnTo>
                  <a:pt x="48055" y="180936"/>
                </a:lnTo>
                <a:cubicBezTo>
                  <a:pt x="51048" y="180026"/>
                  <a:pt x="53772" y="178395"/>
                  <a:pt x="55987" y="176186"/>
                </a:cubicBezTo>
                <a:close/>
                <a:moveTo>
                  <a:pt x="124534" y="31304"/>
                </a:moveTo>
                <a:lnTo>
                  <a:pt x="162759" y="69529"/>
                </a:lnTo>
              </a:path>
            </a:pathLst>
          </a:custGeom>
          <a:noFill/>
          <a:ln w="19113" cap="rnd">
            <a:solidFill>
              <a:srgbClr val="FFFFFF"/>
            </a:solidFill>
            <a:prstDash val="solid"/>
            <a:round/>
          </a:ln>
        </p:spPr>
      </p:sp>
      <p:sp>
        <p:nvSpPr>
          <p:cNvPr id="15" name="Chip:crop"/>
          <p:cNvSpPr/>
          <p:nvPr/>
        </p:nvSpPr>
        <p:spPr>
          <a:xfrm>
            <a:off x="1288029" y="3995928"/>
            <a:ext cx="409555" cy="409555"/>
          </a:xfrm>
          <a:prstGeom prst="ellipse">
            <a:avLst/>
          </a:prstGeom>
          <a:gradFill rotWithShape="1">
            <a:gsLst>
              <a:gs pos="0">
                <a:srgbClr val="3B82F6"/>
              </a:gs>
              <a:gs pos="100000">
                <a:srgbClr val="1D4ED8"/>
              </a:gs>
            </a:gsLst>
            <a:path path="circle">
              <a:fillToRect l="50000" t="50000" r="50000" b="50000"/>
            </a:path>
          </a:gradFill>
          <a:ln/>
          <a:effectLst>
            <a:outerShdw blurRad="102389" dist="127" dir="5400000" algn="bl" rotWithShape="0">
              <a:srgbClr val="2563EB">
                <a:alpha val="55000"/>
              </a:srgbClr>
            </a:outerShdw>
          </a:effectLst>
        </p:spPr>
      </p:sp>
      <p:sp>
        <p:nvSpPr>
          <p:cNvPr id="16" name="Icon:crop"/>
          <p:cNvSpPr/>
          <p:nvPr/>
        </p:nvSpPr>
        <p:spPr>
          <a:xfrm>
            <a:off x="1397243" y="4105143"/>
            <a:ext cx="191126" cy="191126"/>
          </a:xfrm>
          <a:custGeom>
            <a:avLst/>
            <a:gdLst/>
            <a:ahLst/>
            <a:cxnLst/>
            <a:rect l="l" t="t" r="r" b="b"/>
            <a:pathLst>
              <a:path w="191126" h="191126">
                <a:moveTo>
                  <a:pt x="38225" y="0"/>
                </a:moveTo>
                <a:lnTo>
                  <a:pt x="38225" y="133788"/>
                </a:lnTo>
                <a:cubicBezTo>
                  <a:pt x="38225" y="144344"/>
                  <a:pt x="46782" y="152901"/>
                  <a:pt x="57338" y="152901"/>
                </a:cubicBezTo>
                <a:lnTo>
                  <a:pt x="191126" y="152901"/>
                </a:lnTo>
                <a:moveTo>
                  <a:pt x="152901" y="191126"/>
                </a:moveTo>
                <a:lnTo>
                  <a:pt x="152901" y="57338"/>
                </a:lnTo>
                <a:cubicBezTo>
                  <a:pt x="152901" y="46782"/>
                  <a:pt x="144344" y="38225"/>
                  <a:pt x="133788" y="38225"/>
                </a:cubicBezTo>
                <a:lnTo>
                  <a:pt x="0" y="38225"/>
                </a:lnTo>
              </a:path>
            </a:pathLst>
          </a:custGeom>
          <a:noFill/>
          <a:ln w="19113" cap="rnd">
            <a:solidFill>
              <a:srgbClr val="FFFFFF"/>
            </a:solidFill>
            <a:prstDash val="solid"/>
            <a:round/>
          </a:ln>
        </p:spPr>
      </p:sp>
      <p:sp>
        <p:nvSpPr>
          <p:cNvPr id="17" name="Chip:refresh-cw"/>
          <p:cNvSpPr/>
          <p:nvPr/>
        </p:nvSpPr>
        <p:spPr>
          <a:xfrm>
            <a:off x="1288029" y="4690391"/>
            <a:ext cx="409555" cy="409555"/>
          </a:xfrm>
          <a:prstGeom prst="ellipse">
            <a:avLst/>
          </a:prstGeom>
          <a:gradFill rotWithShape="1">
            <a:gsLst>
              <a:gs pos="0">
                <a:srgbClr val="3B82F6"/>
              </a:gs>
              <a:gs pos="100000">
                <a:srgbClr val="1D4ED8"/>
              </a:gs>
            </a:gsLst>
            <a:path path="circle">
              <a:fillToRect l="50000" t="50000" r="50000" b="50000"/>
            </a:path>
          </a:gradFill>
          <a:ln/>
          <a:effectLst>
            <a:outerShdw blurRad="102389" dist="127" dir="5400000" algn="bl" rotWithShape="0">
              <a:srgbClr val="2563EB">
                <a:alpha val="55000"/>
              </a:srgbClr>
            </a:outerShdw>
          </a:effectLst>
        </p:spPr>
      </p:sp>
      <p:sp>
        <p:nvSpPr>
          <p:cNvPr id="18" name="Icon:refresh-cw"/>
          <p:cNvSpPr/>
          <p:nvPr/>
        </p:nvSpPr>
        <p:spPr>
          <a:xfrm>
            <a:off x="1406800" y="4809162"/>
            <a:ext cx="172013" cy="172013"/>
          </a:xfrm>
          <a:custGeom>
            <a:avLst/>
            <a:gdLst/>
            <a:ahLst/>
            <a:cxnLst/>
            <a:rect l="l" t="t" r="r" b="b"/>
            <a:pathLst>
              <a:path w="172013" h="172013">
                <a:moveTo>
                  <a:pt x="0" y="86007"/>
                </a:moveTo>
                <a:cubicBezTo>
                  <a:pt x="0" y="38506"/>
                  <a:pt x="38506" y="0"/>
                  <a:pt x="86007" y="0"/>
                </a:cubicBezTo>
                <a:cubicBezTo>
                  <a:pt x="110051" y="90"/>
                  <a:pt x="133129" y="9472"/>
                  <a:pt x="150416" y="26184"/>
                </a:cubicBezTo>
                <a:lnTo>
                  <a:pt x="172013" y="47781"/>
                </a:lnTo>
                <a:moveTo>
                  <a:pt x="172013" y="0"/>
                </a:moveTo>
                <a:lnTo>
                  <a:pt x="172013" y="47781"/>
                </a:lnTo>
                <a:lnTo>
                  <a:pt x="124232" y="47781"/>
                </a:lnTo>
                <a:moveTo>
                  <a:pt x="172013" y="86007"/>
                </a:moveTo>
                <a:cubicBezTo>
                  <a:pt x="172013" y="133507"/>
                  <a:pt x="133507" y="172013"/>
                  <a:pt x="86007" y="172013"/>
                </a:cubicBezTo>
                <a:cubicBezTo>
                  <a:pt x="61962" y="171923"/>
                  <a:pt x="38884" y="162541"/>
                  <a:pt x="21597" y="145829"/>
                </a:cubicBezTo>
                <a:lnTo>
                  <a:pt x="0" y="124232"/>
                </a:lnTo>
                <a:moveTo>
                  <a:pt x="47781" y="124232"/>
                </a:moveTo>
                <a:lnTo>
                  <a:pt x="0" y="124232"/>
                </a:lnTo>
                <a:lnTo>
                  <a:pt x="0" y="172013"/>
                </a:lnTo>
              </a:path>
            </a:pathLst>
          </a:custGeom>
          <a:noFill/>
          <a:ln w="19113" cap="rnd">
            <a:solidFill>
              <a:srgbClr val="FFFFFF"/>
            </a:solidFill>
            <a:prstDash val="solid"/>
            <a:round/>
          </a:ln>
        </p:spPr>
      </p:sp>
      <p:sp>
        <p:nvSpPr>
          <p:cNvPr id="19" name="Text:schema"/>
          <p:cNvSpPr/>
          <p:nvPr/>
        </p:nvSpPr>
        <p:spPr>
          <a:xfrm>
            <a:off x="1288029" y="2179641"/>
            <a:ext cx="952939" cy="160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4"/>
              </a:lnSpc>
              <a:buNone/>
            </a:pPr>
            <a:r>
              <a:rPr lang="en-US" sz="911" b="1" kern="0" spc="128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SHAREX</a:t>
            </a:r>
            <a:endParaRPr lang="en-US" sz="911" dirty="0"/>
          </a:p>
        </p:txBody>
      </p:sp>
      <p:sp>
        <p:nvSpPr>
          <p:cNvPr id="20" name="Text:schema"/>
          <p:cNvSpPr/>
          <p:nvPr/>
        </p:nvSpPr>
        <p:spPr>
          <a:xfrm>
            <a:off x="1822231" y="2621331"/>
            <a:ext cx="2273976" cy="210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4"/>
              </a:lnSpc>
              <a:buNone/>
            </a:pPr>
            <a:r>
              <a:rPr lang="en-US" sz="126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Grey border in every mail</a:t>
            </a:r>
            <a:endParaRPr lang="en-US" sz="1262" dirty="0"/>
          </a:p>
        </p:txBody>
      </p:sp>
      <p:sp>
        <p:nvSpPr>
          <p:cNvPr id="21" name="Text:schema"/>
          <p:cNvSpPr/>
          <p:nvPr/>
        </p:nvSpPr>
        <p:spPr>
          <a:xfrm>
            <a:off x="1822231" y="2840299"/>
            <a:ext cx="2273976" cy="179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6"/>
              </a:lnSpc>
              <a:buNone/>
            </a:pPr>
            <a:r>
              <a:rPr lang="en-US" sz="981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 it in Outlook and it just looks tidy</a:t>
            </a:r>
            <a:endParaRPr lang="en-US" sz="981" dirty="0"/>
          </a:p>
        </p:txBody>
      </p:sp>
      <p:sp>
        <p:nvSpPr>
          <p:cNvPr id="22" name="Text:schema"/>
          <p:cNvSpPr/>
          <p:nvPr/>
        </p:nvSpPr>
        <p:spPr>
          <a:xfrm>
            <a:off x="1822231" y="3315794"/>
            <a:ext cx="2471241" cy="210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4"/>
              </a:lnSpc>
              <a:buNone/>
            </a:pPr>
            <a:r>
              <a:rPr lang="en-US" sz="126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Annotate fast</a:t>
            </a:r>
            <a:endParaRPr lang="en-US" sz="1262" dirty="0"/>
          </a:p>
        </p:txBody>
      </p:sp>
      <p:sp>
        <p:nvSpPr>
          <p:cNvPr id="23" name="Text:schema"/>
          <p:cNvSpPr/>
          <p:nvPr/>
        </p:nvSpPr>
        <p:spPr>
          <a:xfrm>
            <a:off x="1822231" y="3534761"/>
            <a:ext cx="2471241" cy="179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6"/>
              </a:lnSpc>
              <a:buNone/>
            </a:pPr>
            <a:r>
              <a:rPr lang="en-US" sz="981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= arrow, T = text, Ctrl+D copies a shape</a:t>
            </a:r>
            <a:endParaRPr lang="en-US" sz="981" dirty="0"/>
          </a:p>
        </p:txBody>
      </p:sp>
      <p:sp>
        <p:nvSpPr>
          <p:cNvPr id="24" name="Text:schema"/>
          <p:cNvSpPr/>
          <p:nvPr/>
        </p:nvSpPr>
        <p:spPr>
          <a:xfrm>
            <a:off x="1822231" y="4010257"/>
            <a:ext cx="2859790" cy="210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4"/>
              </a:lnSpc>
              <a:buNone/>
            </a:pPr>
            <a:r>
              <a:rPr lang="en-US" sz="126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 capture</a:t>
            </a:r>
            <a:endParaRPr lang="en-US" sz="1262" dirty="0"/>
          </a:p>
        </p:txBody>
      </p:sp>
      <p:sp>
        <p:nvSpPr>
          <p:cNvPr id="25" name="Text:schema"/>
          <p:cNvSpPr/>
          <p:nvPr/>
        </p:nvSpPr>
        <p:spPr>
          <a:xfrm>
            <a:off x="1822231" y="4229224"/>
            <a:ext cx="2859790" cy="179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6"/>
              </a:lnSpc>
              <a:buNone/>
            </a:pPr>
            <a:r>
              <a:rPr lang="en-US" sz="981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Keeps the edges of your browser window visible</a:t>
            </a:r>
            <a:endParaRPr lang="en-US" sz="981" dirty="0"/>
          </a:p>
        </p:txBody>
      </p:sp>
      <p:sp>
        <p:nvSpPr>
          <p:cNvPr id="26" name="Text:schema"/>
          <p:cNvSpPr/>
          <p:nvPr/>
        </p:nvSpPr>
        <p:spPr>
          <a:xfrm>
            <a:off x="1822231" y="4704720"/>
            <a:ext cx="2972056" cy="210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4"/>
              </a:lnSpc>
              <a:buNone/>
            </a:pPr>
            <a:r>
              <a:rPr lang="en-US" sz="126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and still updated</a:t>
            </a:r>
            <a:endParaRPr lang="en-US" sz="1262" dirty="0"/>
          </a:p>
        </p:txBody>
      </p:sp>
      <p:sp>
        <p:nvSpPr>
          <p:cNvPr id="27" name="Text:schema"/>
          <p:cNvSpPr/>
          <p:nvPr/>
        </p:nvSpPr>
        <p:spPr>
          <a:xfrm>
            <a:off x="1822231" y="4923687"/>
            <a:ext cx="2972056" cy="179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6"/>
              </a:lnSpc>
              <a:buNone/>
            </a:pPr>
            <a:r>
              <a:rPr lang="en-US" sz="981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source. Snagit is paid, Snipping Tool is basic</a:t>
            </a:r>
            <a:endParaRPr lang="en-US" sz="981" dirty="0"/>
          </a:p>
        </p:txBody>
      </p:sp>
      <p:sp>
        <p:nvSpPr>
          <p:cNvPr id="28" name="Text:schema"/>
          <p:cNvSpPr/>
          <p:nvPr/>
        </p:nvSpPr>
        <p:spPr>
          <a:xfrm>
            <a:off x="6523209" y="2179641"/>
            <a:ext cx="1296414" cy="160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4"/>
              </a:lnSpc>
              <a:buNone/>
            </a:pPr>
            <a:r>
              <a:rPr lang="en-US" sz="911" b="1" kern="0" spc="128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 IT IN 3 STEPS</a:t>
            </a:r>
            <a:endParaRPr lang="en-US" sz="911" dirty="0"/>
          </a:p>
        </p:txBody>
      </p:sp>
      <p:sp>
        <p:nvSpPr>
          <p:cNvPr id="29" name="Text:schema"/>
          <p:cNvSpPr/>
          <p:nvPr/>
        </p:nvSpPr>
        <p:spPr>
          <a:xfrm>
            <a:off x="6497568" y="2517969"/>
            <a:ext cx="460838" cy="427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83"/>
              </a:lnSpc>
              <a:buNone/>
            </a:pPr>
            <a:r>
              <a:rPr lang="en-US" sz="140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2" dirty="0"/>
          </a:p>
        </p:txBody>
      </p:sp>
      <p:sp>
        <p:nvSpPr>
          <p:cNvPr id="30" name="Text:schema"/>
          <p:cNvSpPr/>
          <p:nvPr/>
        </p:nvSpPr>
        <p:spPr>
          <a:xfrm>
            <a:off x="7075218" y="2500162"/>
            <a:ext cx="3828448" cy="22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98"/>
              </a:lnSpc>
              <a:buNone/>
            </a:pPr>
            <a:r>
              <a:rPr lang="en-US" sz="133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Grab the prompt</a:t>
            </a:r>
            <a:endParaRPr lang="en-US" sz="1332" dirty="0"/>
          </a:p>
        </p:txBody>
      </p:sp>
      <p:sp>
        <p:nvSpPr>
          <p:cNvPr id="31" name="Text:schema"/>
          <p:cNvSpPr/>
          <p:nvPr/>
        </p:nvSpPr>
        <p:spPr>
          <a:xfrm>
            <a:off x="7075218" y="2767263"/>
            <a:ext cx="3828448" cy="179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6"/>
              </a:lnSpc>
              <a:buNone/>
            </a:pPr>
            <a:r>
              <a:rPr lang="en-US" sz="981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github.com/Joachim-Ally-Skyline/sharex-screenshot-setup</a:t>
            </a:r>
            <a:endParaRPr lang="en-US" sz="981" dirty="0"/>
          </a:p>
        </p:txBody>
      </p:sp>
      <p:sp>
        <p:nvSpPr>
          <p:cNvPr id="32" name="Text:schema"/>
          <p:cNvSpPr/>
          <p:nvPr/>
        </p:nvSpPr>
        <p:spPr>
          <a:xfrm>
            <a:off x="6497568" y="3443919"/>
            <a:ext cx="460838" cy="427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83"/>
              </a:lnSpc>
              <a:buNone/>
            </a:pPr>
            <a:r>
              <a:rPr lang="en-US" sz="140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2" dirty="0"/>
          </a:p>
        </p:txBody>
      </p:sp>
      <p:sp>
        <p:nvSpPr>
          <p:cNvPr id="33" name="Text:schema"/>
          <p:cNvSpPr/>
          <p:nvPr/>
        </p:nvSpPr>
        <p:spPr>
          <a:xfrm>
            <a:off x="7075218" y="3426112"/>
            <a:ext cx="3828448" cy="22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98"/>
              </a:lnSpc>
              <a:buNone/>
            </a:pPr>
            <a:r>
              <a:rPr lang="en-US" sz="133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 it into your AI agent</a:t>
            </a:r>
            <a:endParaRPr lang="en-US" sz="1332" dirty="0"/>
          </a:p>
        </p:txBody>
      </p:sp>
      <p:sp>
        <p:nvSpPr>
          <p:cNvPr id="34" name="Text:schema"/>
          <p:cNvSpPr/>
          <p:nvPr/>
        </p:nvSpPr>
        <p:spPr>
          <a:xfrm>
            <a:off x="7075218" y="3693213"/>
            <a:ext cx="3828448" cy="179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6"/>
              </a:lnSpc>
              <a:buNone/>
            </a:pPr>
            <a:r>
              <a:rPr lang="en-US" sz="981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backs up your settings and installs ShareX only if you lack it</a:t>
            </a:r>
            <a:endParaRPr lang="en-US" sz="981" dirty="0"/>
          </a:p>
        </p:txBody>
      </p:sp>
      <p:sp>
        <p:nvSpPr>
          <p:cNvPr id="35" name="Text:schema"/>
          <p:cNvSpPr/>
          <p:nvPr/>
        </p:nvSpPr>
        <p:spPr>
          <a:xfrm>
            <a:off x="6497568" y="4369869"/>
            <a:ext cx="460838" cy="427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83"/>
              </a:lnSpc>
              <a:buNone/>
            </a:pPr>
            <a:r>
              <a:rPr lang="en-US" sz="140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2" dirty="0"/>
          </a:p>
        </p:txBody>
      </p:sp>
      <p:sp>
        <p:nvSpPr>
          <p:cNvPr id="36" name="Text:schema"/>
          <p:cNvSpPr/>
          <p:nvPr/>
        </p:nvSpPr>
        <p:spPr>
          <a:xfrm>
            <a:off x="7075218" y="4352063"/>
            <a:ext cx="3828448" cy="22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98"/>
              </a:lnSpc>
              <a:buNone/>
            </a:pPr>
            <a:r>
              <a:rPr lang="en-US" sz="133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 Ctrl+Shift+1</a:t>
            </a:r>
            <a:endParaRPr lang="en-US" sz="1332" dirty="0"/>
          </a:p>
        </p:txBody>
      </p:sp>
      <p:sp>
        <p:nvSpPr>
          <p:cNvPr id="37" name="Text:schema"/>
          <p:cNvSpPr/>
          <p:nvPr/>
        </p:nvSpPr>
        <p:spPr>
          <a:xfrm>
            <a:off x="7075218" y="4619164"/>
            <a:ext cx="3828448" cy="179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6"/>
              </a:lnSpc>
              <a:buNone/>
            </a:pPr>
            <a:r>
              <a:rPr lang="en-US" sz="981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Drag over an area. Done.</a:t>
            </a:r>
            <a:endParaRPr lang="en-US" sz="981" dirty="0"/>
          </a:p>
        </p:txBody>
      </p:sp>
      <p:sp>
        <p:nvSpPr>
          <p:cNvPr id="38" name="Gradient"/>
          <p:cNvSpPr/>
          <p:nvPr/>
        </p:nvSpPr>
        <p:spPr>
          <a:xfrm>
            <a:off x="685800" y="5577840"/>
            <a:ext cx="10820095" cy="54864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11827"/>
              </a:gs>
              <a:gs pos="100000">
                <a:srgbClr val="0B1120"/>
              </a:gs>
            </a:gsLst>
            <a:lin ang="0" scaled="0"/>
          </a:gradFill>
          <a:ln w="9525">
            <a:solidFill>
              <a:srgbClr val="1F2937"/>
            </a:solidFill>
            <a:prstDash val="solid"/>
          </a:ln>
        </p:spPr>
      </p:sp>
      <p:sp>
        <p:nvSpPr>
          <p:cNvPr id="39" name="Gradient"/>
          <p:cNvSpPr/>
          <p:nvPr/>
        </p:nvSpPr>
        <p:spPr>
          <a:xfrm>
            <a:off x="813816" y="5715000"/>
            <a:ext cx="54864" cy="274320"/>
          </a:xfrm>
          <a:prstGeom prst="rect">
            <a:avLst/>
          </a:prstGeom>
          <a:gradFill rotWithShape="1">
            <a:gsLst>
              <a:gs pos="0">
                <a:srgbClr val="60A5FA"/>
              </a:gs>
              <a:gs pos="100000">
                <a:srgbClr val="1D4ED8"/>
              </a:gs>
            </a:gsLst>
            <a:lin ang="5400000" scaled="0"/>
          </a:gradFill>
          <a:ln/>
        </p:spPr>
      </p:sp>
      <p:sp>
        <p:nvSpPr>
          <p:cNvPr id="40" name="Text 37"/>
          <p:cNvSpPr/>
          <p:nvPr/>
        </p:nvSpPr>
        <p:spPr>
          <a:xfrm>
            <a:off x="960120" y="55778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Tip: switch on </a:t>
            </a:r>
            <a:r>
              <a:rPr lang="en-US" sz="14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Windows+V</a:t>
            </a: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clipboard history and you can re-paste your last screenshots.</a:t>
            </a:r>
            <a:endParaRPr lang="en-US" sz="14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" val="generate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" val="generate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</Words>
  <Application>Microsoft Office PowerPoint</Application>
  <PresentationFormat>Breedbeeld</PresentationFormat>
  <Paragraphs>55</Paragraphs>
  <Slides>2</Slides>
  <Notes>2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</vt:i4>
      </vt:variant>
    </vt:vector>
  </HeadingPairs>
  <TitlesOfParts>
    <vt:vector size="7" baseType="lpstr">
      <vt:lpstr>Arial</vt:lpstr>
      <vt:lpstr>Inter</vt:lpstr>
      <vt:lpstr>Inter SemiBold</vt:lpstr>
      <vt:lpstr>SkylineSans Black</vt:lpstr>
      <vt:lpstr>Office Theme</vt:lpstr>
      <vt:lpstr>PowerPoint-presentatie</vt:lpstr>
      <vt:lpstr>PowerPoint-presentatie</vt:lpstr>
    </vt:vector>
  </TitlesOfParts>
  <Company>Skyline Communications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DataMiner – ShareX mini training</dc:title>
  <dc:subject>DataMiner Empower</dc:subject>
  <dc:creator>Skyline Communications</dc:creator>
  <cp:lastModifiedBy>Joachim Ally</cp:lastModifiedBy>
  <cp:revision>2</cp:revision>
  <dcterms:created xsi:type="dcterms:W3CDTF">2026-10-28T22:00:34Z</dcterms:created>
  <dcterms:modified xsi:type="dcterms:W3CDTF">2026-10-28T22:00:35Z</dcterms:modified>
</cp:coreProperties>
</file>